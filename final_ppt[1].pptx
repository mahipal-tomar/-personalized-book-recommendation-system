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8" r:id="rId2"/>
    <p:sldId id="410" r:id="rId3"/>
    <p:sldId id="411" r:id="rId4"/>
    <p:sldId id="412" r:id="rId5"/>
    <p:sldId id="413" r:id="rId6"/>
    <p:sldId id="414" r:id="rId7"/>
    <p:sldId id="415" r:id="rId8"/>
    <p:sldId id="417" r:id="rId9"/>
    <p:sldId id="418" r:id="rId10"/>
    <p:sldId id="416" r:id="rId11"/>
    <p:sldId id="401" r:id="rId12"/>
    <p:sldId id="421" r:id="rId13"/>
    <p:sldId id="264" r:id="rId14"/>
    <p:sldId id="42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941" autoAdjust="0"/>
  </p:normalViewPr>
  <p:slideViewPr>
    <p:cSldViewPr snapToGrid="0">
      <p:cViewPr>
        <p:scale>
          <a:sx n="66" d="100"/>
          <a:sy n="66" d="100"/>
        </p:scale>
        <p:origin x="1330" y="28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9E25B-407D-4B95-BC47-AE2FEECD62A4}" type="datetimeFigureOut">
              <a:rPr lang="en-IN" smtClean="0"/>
              <a:t>17-02-2025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BCF4EC-5633-4282-AF09-4F1B9C34C7B6}" type="slidenum">
              <a:rPr lang="en-IN" smtClean="0"/>
              <a:t>‹#›</a:t>
            </a:fld>
            <a:endParaRPr lang="en-IN"/>
          </a:p>
        </p:txBody>
      </p:sp>
    </p:spTree>
    <p:extLst>
      <p:ext uri="{BB962C8B-B14F-4D97-AF65-F5344CB8AC3E}">
        <p14:creationId xmlns:p14="http://schemas.microsoft.com/office/powerpoint/2010/main" val="1551864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BCF4EC-5633-4282-AF09-4F1B9C34C7B6}" type="slidenum">
              <a:rPr lang="en-IN" smtClean="0"/>
              <a:t>6</a:t>
            </a:fld>
            <a:endParaRPr lang="en-IN"/>
          </a:p>
        </p:txBody>
      </p:sp>
    </p:spTree>
    <p:extLst>
      <p:ext uri="{BB962C8B-B14F-4D97-AF65-F5344CB8AC3E}">
        <p14:creationId xmlns:p14="http://schemas.microsoft.com/office/powerpoint/2010/main" val="36846322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E9462EF3-3C4F-43EE-ACEE-D4B806740EA3}" type="datetimeFigureOut">
              <a:rPr lang="en-US" dirty="0"/>
              <a:pPr/>
              <a:t>2/17/2025</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6C0EF2-9919-473B-8215-8616BAF10692}" type="datetimeFigureOut">
              <a:rPr lang="en-US" dirty="0"/>
              <a:t>2/17/2025</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472EB-AC54-4713-BFC2-BEB621108C63}" type="datetimeFigureOut">
              <a:rPr lang="en-US" dirty="0"/>
              <a:t>2/17/2025</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9455A0C-791E-4545-B787-F98AD45CD761}" type="datetimeFigureOut">
              <a:rPr lang="en-US" dirty="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536B77-F4F4-4427-AC4F-9A623798AD82}" type="datetimeFigureOut">
              <a:rPr lang="en-US" dirty="0"/>
              <a:t>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8BE790C-34EB-4565-8437-CACF4CDB7822}" type="datetimeFigureOut">
              <a:rPr lang="en-US" dirty="0"/>
              <a:t>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4A4C11-22B8-4A4E-8126-B3AF6B948A8E}" type="datetimeFigureOut">
              <a:rPr lang="en-US" dirty="0"/>
              <a:t>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ED06B6-C816-4861-964D-15A98395707D}" type="datetimeFigureOut">
              <a:rPr lang="en-US" dirty="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B1A8AB-EA7C-4B1B-9D73-E2551851FABE}" type="datetimeFigureOut">
              <a:rPr lang="en-US" dirty="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343B39-165A-4B68-AA5C-581F5336313C}" type="datetimeFigureOut">
              <a:rPr lang="en-US" dirty="0"/>
              <a:t>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42C8C57-33F9-4259-AC4F-0E3F5BEC9B94}" type="datetimeFigureOut">
              <a:rPr lang="en-US" dirty="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748772B-8FA2-401F-A0A1-A59855EDBC3E}" type="datetimeFigureOut">
              <a:rPr lang="en-US" dirty="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DD5BDE-5A90-4611-82E9-0FC5746D30C5}" type="datetimeFigureOut">
              <a:rPr lang="en-US" dirty="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ADDA17D-0BEA-4E76-A7FC-F7C188BC48D1}" type="datetimeFigureOut">
              <a:rPr lang="en-US" dirty="0"/>
              <a:t>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09AC7D-18CA-4236-82B9-D75EB1D66EAE}" type="datetimeFigureOut">
              <a:rPr lang="en-US" dirty="0"/>
              <a:t>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68300E-C023-45CD-A0BE-EDB7A8C6EA8B}" type="datetimeFigureOut">
              <a:rPr lang="en-US" dirty="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620EAD-E369-4933-8469-ED7764B56A1B}" type="datetimeFigureOut">
              <a:rPr lang="en-US" dirty="0"/>
              <a:t>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90786BE5-D2A3-4BF0-8B30-D7403E61B3DC}" type="datetimeFigureOut">
              <a:rPr lang="en-US" dirty="0"/>
              <a:t>2/17/2025</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F611-591A-4AE1-13E8-357DC3799E58}"/>
              </a:ext>
            </a:extLst>
          </p:cNvPr>
          <p:cNvSpPr>
            <a:spLocks noGrp="1"/>
          </p:cNvSpPr>
          <p:nvPr>
            <p:ph type="ctrTitle"/>
          </p:nvPr>
        </p:nvSpPr>
        <p:spPr>
          <a:xfrm>
            <a:off x="821063" y="2080620"/>
            <a:ext cx="8825658" cy="1810670"/>
          </a:xfrm>
        </p:spPr>
        <p:txBody>
          <a:bodyPr/>
          <a:lstStyle/>
          <a:p>
            <a:r>
              <a:rPr lang="en-IN" sz="4400" b="1" dirty="0"/>
              <a:t>Energy Consumption Analysis and Efficiency Improvement</a:t>
            </a:r>
            <a:endParaRPr lang="en-IN" sz="4400" dirty="0"/>
          </a:p>
        </p:txBody>
      </p:sp>
      <p:sp>
        <p:nvSpPr>
          <p:cNvPr id="3" name="Subtitle 2">
            <a:extLst>
              <a:ext uri="{FF2B5EF4-FFF2-40B4-BE49-F238E27FC236}">
                <a16:creationId xmlns:a16="http://schemas.microsoft.com/office/drawing/2014/main" id="{D2CD8908-BE86-374F-8F2C-605DF2208F24}"/>
              </a:ext>
            </a:extLst>
          </p:cNvPr>
          <p:cNvSpPr>
            <a:spLocks noGrp="1"/>
          </p:cNvSpPr>
          <p:nvPr>
            <p:ph type="subTitle" idx="1"/>
          </p:nvPr>
        </p:nvSpPr>
        <p:spPr>
          <a:xfrm>
            <a:off x="7103658" y="5317257"/>
            <a:ext cx="3790269" cy="861420"/>
          </a:xfrm>
        </p:spPr>
        <p:txBody>
          <a:bodyPr/>
          <a:lstStyle/>
          <a:p>
            <a:r>
              <a:rPr lang="en-IN" dirty="0"/>
              <a:t>Project no : </a:t>
            </a:r>
            <a:r>
              <a:rPr lang="en-IN" dirty="0">
                <a:solidFill>
                  <a:schemeClr val="bg1"/>
                </a:solidFill>
              </a:rPr>
              <a:t>AK6</a:t>
            </a:r>
          </a:p>
          <a:p>
            <a:r>
              <a:rPr lang="en-IN" dirty="0"/>
              <a:t>Guided by : </a:t>
            </a:r>
            <a:r>
              <a:rPr lang="en-IN" dirty="0" err="1"/>
              <a:t>dr.</a:t>
            </a:r>
            <a:r>
              <a:rPr lang="en-IN" dirty="0"/>
              <a:t> </a:t>
            </a:r>
            <a:r>
              <a:rPr lang="en-IN" dirty="0" err="1"/>
              <a:t>aJAY</a:t>
            </a:r>
            <a:r>
              <a:rPr lang="en-IN" dirty="0"/>
              <a:t> </a:t>
            </a:r>
            <a:r>
              <a:rPr lang="en-IN" dirty="0" err="1"/>
              <a:t>kUMAR</a:t>
            </a:r>
            <a:endParaRPr lang="en-IN" dirty="0"/>
          </a:p>
        </p:txBody>
      </p:sp>
      <p:sp>
        <p:nvSpPr>
          <p:cNvPr id="5" name="TextBox 4">
            <a:extLst>
              <a:ext uri="{FF2B5EF4-FFF2-40B4-BE49-F238E27FC236}">
                <a16:creationId xmlns:a16="http://schemas.microsoft.com/office/drawing/2014/main" id="{62E26B36-6A46-FB77-9522-C1FC6D6E987E}"/>
              </a:ext>
            </a:extLst>
          </p:cNvPr>
          <p:cNvSpPr txBox="1"/>
          <p:nvPr/>
        </p:nvSpPr>
        <p:spPr>
          <a:xfrm>
            <a:off x="2904469" y="679323"/>
            <a:ext cx="6094324" cy="1077218"/>
          </a:xfrm>
          <a:prstGeom prst="rect">
            <a:avLst/>
          </a:prstGeom>
          <a:noFill/>
        </p:spPr>
        <p:txBody>
          <a:bodyPr wrap="square">
            <a:spAutoFit/>
          </a:bodyPr>
          <a:lstStyle/>
          <a:p>
            <a:pPr algn="ctr"/>
            <a:r>
              <a:rPr lang="en-IN" sz="3200" dirty="0">
                <a:solidFill>
                  <a:schemeClr val="bg1"/>
                </a:solidFill>
                <a:latin typeface="Times New Roman" panose="02020603050405020304" pitchFamily="18" charset="0"/>
                <a:cs typeface="Times New Roman" panose="02020603050405020304" pitchFamily="18" charset="0"/>
              </a:rPr>
              <a:t>Jaypee University Of Engineering and Technology</a:t>
            </a:r>
          </a:p>
        </p:txBody>
      </p:sp>
      <p:sp>
        <p:nvSpPr>
          <p:cNvPr id="6" name="TextBox 5">
            <a:extLst>
              <a:ext uri="{FF2B5EF4-FFF2-40B4-BE49-F238E27FC236}">
                <a16:creationId xmlns:a16="http://schemas.microsoft.com/office/drawing/2014/main" id="{113A1FCD-6F86-982C-F992-084AE2F3A6F7}"/>
              </a:ext>
            </a:extLst>
          </p:cNvPr>
          <p:cNvSpPr txBox="1"/>
          <p:nvPr/>
        </p:nvSpPr>
        <p:spPr>
          <a:xfrm>
            <a:off x="997601" y="4701349"/>
            <a:ext cx="5328554" cy="1477328"/>
          </a:xfrm>
          <a:prstGeom prst="rect">
            <a:avLst/>
          </a:prstGeom>
          <a:noFill/>
        </p:spPr>
        <p:txBody>
          <a:bodyPr wrap="square">
            <a:spAutoFit/>
          </a:bodyPr>
          <a:lstStyle/>
          <a:p>
            <a:r>
              <a:rPr lang="en-IN" b="1" dirty="0">
                <a:solidFill>
                  <a:schemeClr val="tx2">
                    <a:lumMod val="40000"/>
                    <a:lumOff val="60000"/>
                  </a:schemeClr>
                </a:solidFill>
              </a:rPr>
              <a:t>TEAM MEMBERS</a:t>
            </a:r>
          </a:p>
          <a:p>
            <a:endParaRPr lang="en-IN" dirty="0">
              <a:solidFill>
                <a:schemeClr val="tx2">
                  <a:lumMod val="40000"/>
                  <a:lumOff val="60000"/>
                </a:schemeClr>
              </a:solidFill>
            </a:endParaRPr>
          </a:p>
          <a:p>
            <a:r>
              <a:rPr lang="en-IN" dirty="0">
                <a:solidFill>
                  <a:schemeClr val="tx2">
                    <a:lumMod val="40000"/>
                    <a:lumOff val="60000"/>
                  </a:schemeClr>
                </a:solidFill>
              </a:rPr>
              <a:t>LOKENDRA SAHU					</a:t>
            </a:r>
            <a:r>
              <a:rPr lang="en-IN" dirty="0">
                <a:solidFill>
                  <a:schemeClr val="bg1"/>
                </a:solidFill>
              </a:rPr>
              <a:t>221B221</a:t>
            </a:r>
          </a:p>
          <a:p>
            <a:r>
              <a:rPr lang="en-IN" dirty="0">
                <a:solidFill>
                  <a:schemeClr val="tx2">
                    <a:lumMod val="40000"/>
                    <a:lumOff val="60000"/>
                  </a:schemeClr>
                </a:solidFill>
              </a:rPr>
              <a:t>MAHIPAL PRATAP SINGH TOMAR		</a:t>
            </a:r>
            <a:r>
              <a:rPr lang="en-IN" dirty="0">
                <a:solidFill>
                  <a:schemeClr val="bg1"/>
                </a:solidFill>
              </a:rPr>
              <a:t>221B225</a:t>
            </a:r>
          </a:p>
          <a:p>
            <a:r>
              <a:rPr lang="en-IN" dirty="0">
                <a:solidFill>
                  <a:schemeClr val="tx2">
                    <a:lumMod val="40000"/>
                    <a:lumOff val="60000"/>
                  </a:schemeClr>
                </a:solidFill>
              </a:rPr>
              <a:t>MANOJ KUMAR LODHA				</a:t>
            </a:r>
            <a:r>
              <a:rPr lang="en-IN" dirty="0">
                <a:solidFill>
                  <a:schemeClr val="bg1"/>
                </a:solidFill>
              </a:rPr>
              <a:t>221B231</a:t>
            </a:r>
          </a:p>
        </p:txBody>
      </p:sp>
    </p:spTree>
    <p:extLst>
      <p:ext uri="{BB962C8B-B14F-4D97-AF65-F5344CB8AC3E}">
        <p14:creationId xmlns:p14="http://schemas.microsoft.com/office/powerpoint/2010/main" val="12628479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CFBC5-B5CB-2D5D-34CC-DBDFD49992ED}"/>
              </a:ext>
            </a:extLst>
          </p:cNvPr>
          <p:cNvSpPr>
            <a:spLocks noGrp="1"/>
          </p:cNvSpPr>
          <p:nvPr>
            <p:ph type="title"/>
          </p:nvPr>
        </p:nvSpPr>
        <p:spPr/>
        <p:txBody>
          <a:bodyPr/>
          <a:lstStyle/>
          <a:p>
            <a:r>
              <a:rPr lang="en-IN" dirty="0"/>
              <a:t>Content</a:t>
            </a:r>
          </a:p>
        </p:txBody>
      </p:sp>
      <p:sp>
        <p:nvSpPr>
          <p:cNvPr id="3" name="Content Placeholder 2">
            <a:extLst>
              <a:ext uri="{FF2B5EF4-FFF2-40B4-BE49-F238E27FC236}">
                <a16:creationId xmlns:a16="http://schemas.microsoft.com/office/drawing/2014/main" id="{853D859D-60EC-0D2A-D646-59B49AF6C8A8}"/>
              </a:ext>
            </a:extLst>
          </p:cNvPr>
          <p:cNvSpPr>
            <a:spLocks noGrp="1"/>
          </p:cNvSpPr>
          <p:nvPr>
            <p:ph idx="1"/>
          </p:nvPr>
        </p:nvSpPr>
        <p:spPr/>
        <p:txBody>
          <a:bodyPr/>
          <a:lstStyle/>
          <a:p>
            <a:r>
              <a:rPr lang="en-IN" dirty="0"/>
              <a:t>Introduction</a:t>
            </a:r>
          </a:p>
          <a:p>
            <a:r>
              <a:rPr lang="en-IN" dirty="0"/>
              <a:t>Requirement analysis</a:t>
            </a:r>
          </a:p>
          <a:p>
            <a:r>
              <a:rPr lang="en-IN" dirty="0"/>
              <a:t>Block diagram of project</a:t>
            </a:r>
          </a:p>
          <a:p>
            <a:r>
              <a:rPr lang="en-IN" dirty="0"/>
              <a:t>Result</a:t>
            </a:r>
          </a:p>
          <a:p>
            <a:r>
              <a:rPr lang="en-IN" dirty="0"/>
              <a:t>Conclusion</a:t>
            </a:r>
          </a:p>
          <a:p>
            <a:r>
              <a:rPr lang="en-IN" dirty="0"/>
              <a:t>Infosys Springboard Courses</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468387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324E-7089-2A4F-2B85-2962109BFA8D}"/>
              </a:ext>
            </a:extLst>
          </p:cNvPr>
          <p:cNvSpPr>
            <a:spLocks noGrp="1"/>
          </p:cNvSpPr>
          <p:nvPr>
            <p:ph type="title"/>
          </p:nvPr>
        </p:nvSpPr>
        <p:spPr/>
        <p:txBody>
          <a:bodyPr/>
          <a:lstStyle/>
          <a:p>
            <a:r>
              <a:rPr lang="en-US" dirty="0"/>
              <a:t>Introduction </a:t>
            </a:r>
            <a:endParaRPr lang="en-IN" dirty="0"/>
          </a:p>
        </p:txBody>
      </p:sp>
      <p:sp>
        <p:nvSpPr>
          <p:cNvPr id="4" name="TextBox 3">
            <a:extLst>
              <a:ext uri="{FF2B5EF4-FFF2-40B4-BE49-F238E27FC236}">
                <a16:creationId xmlns:a16="http://schemas.microsoft.com/office/drawing/2014/main" id="{C09BBD07-2A77-C718-625C-E104DD600435}"/>
              </a:ext>
            </a:extLst>
          </p:cNvPr>
          <p:cNvSpPr txBox="1"/>
          <p:nvPr/>
        </p:nvSpPr>
        <p:spPr>
          <a:xfrm>
            <a:off x="639745" y="2339741"/>
            <a:ext cx="10912509" cy="4281108"/>
          </a:xfrm>
          <a:prstGeom prst="rect">
            <a:avLst/>
          </a:prstGeom>
          <a:noFill/>
        </p:spPr>
        <p:txBody>
          <a:bodyPr wrap="square">
            <a:spAutoFit/>
          </a:bodyPr>
          <a:lstStyle/>
          <a:p>
            <a:pPr algn="just">
              <a:lnSpc>
                <a:spcPct val="150000"/>
              </a:lnSpc>
            </a:pPr>
            <a:r>
              <a:rPr lang="en-US" sz="1800" b="1" dirty="0"/>
              <a:t>Data Science</a:t>
            </a:r>
            <a:r>
              <a:rPr lang="en-US" sz="1800" dirty="0"/>
              <a:t> is a field that involves using scientific methods, algorithms, and systems to extract knowledge and insights from structured and unstructured data. It combines statistics, mathematics, programming, and domain expertise to solve complex problems.</a:t>
            </a:r>
          </a:p>
          <a:p>
            <a:pPr algn="just">
              <a:lnSpc>
                <a:spcPct val="150000"/>
              </a:lnSpc>
            </a:pPr>
            <a:endParaRPr lang="en-US" sz="1800" dirty="0"/>
          </a:p>
          <a:p>
            <a:pPr algn="just">
              <a:lnSpc>
                <a:spcPct val="150000"/>
              </a:lnSpc>
            </a:pPr>
            <a:r>
              <a:rPr lang="en-US" b="1" u="sng" dirty="0"/>
              <a:t>Applications of Data Science</a:t>
            </a:r>
            <a:r>
              <a:rPr lang="en-US" b="1" dirty="0"/>
              <a:t>:</a:t>
            </a:r>
          </a:p>
          <a:p>
            <a:pPr algn="just">
              <a:lnSpc>
                <a:spcPct val="150000"/>
              </a:lnSpc>
              <a:buFont typeface="+mj-lt"/>
              <a:buAutoNum type="arabicPeriod"/>
            </a:pPr>
            <a:r>
              <a:rPr lang="en-US" b="1" dirty="0"/>
              <a:t>Healthcare</a:t>
            </a:r>
            <a:r>
              <a:rPr lang="en-US" dirty="0"/>
              <a:t>: Predicting disease outbreaks, personalized medicine, and improving patient care.</a:t>
            </a:r>
          </a:p>
          <a:p>
            <a:pPr algn="just">
              <a:lnSpc>
                <a:spcPct val="150000"/>
              </a:lnSpc>
              <a:buFont typeface="+mj-lt"/>
              <a:buAutoNum type="arabicPeriod"/>
            </a:pPr>
            <a:r>
              <a:rPr lang="en-US" b="1" dirty="0"/>
              <a:t>Finance</a:t>
            </a:r>
            <a:r>
              <a:rPr lang="en-US" dirty="0"/>
              <a:t>: Fraud detection, risk management, and algorithmic trading.</a:t>
            </a:r>
          </a:p>
          <a:p>
            <a:pPr algn="just">
              <a:lnSpc>
                <a:spcPct val="150000"/>
              </a:lnSpc>
              <a:buFont typeface="+mj-lt"/>
              <a:buAutoNum type="arabicPeriod"/>
            </a:pPr>
            <a:r>
              <a:rPr lang="en-US" b="1" dirty="0"/>
              <a:t>Retail</a:t>
            </a:r>
            <a:r>
              <a:rPr lang="en-US" dirty="0"/>
              <a:t>: Customer behavior analysis, inventory management, and recommendation systems.</a:t>
            </a:r>
          </a:p>
          <a:p>
            <a:pPr algn="just">
              <a:lnSpc>
                <a:spcPct val="150000"/>
              </a:lnSpc>
              <a:buFont typeface="+mj-lt"/>
              <a:buAutoNum type="arabicPeriod"/>
            </a:pPr>
            <a:r>
              <a:rPr lang="en-US" sz="2000" b="1" dirty="0"/>
              <a:t>Transportation</a:t>
            </a:r>
            <a:r>
              <a:rPr lang="en-US" sz="2000" dirty="0"/>
              <a:t>: Optimizing routes, predicting traffic patterns, and autonomous vehicles.</a:t>
            </a:r>
          </a:p>
        </p:txBody>
      </p:sp>
    </p:spTree>
    <p:extLst>
      <p:ext uri="{BB962C8B-B14F-4D97-AF65-F5344CB8AC3E}">
        <p14:creationId xmlns:p14="http://schemas.microsoft.com/office/powerpoint/2010/main" val="3044883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324E-7089-2A4F-2B85-2962109BFA8D}"/>
              </a:ext>
            </a:extLst>
          </p:cNvPr>
          <p:cNvSpPr>
            <a:spLocks noGrp="1"/>
          </p:cNvSpPr>
          <p:nvPr>
            <p:ph type="title"/>
          </p:nvPr>
        </p:nvSpPr>
        <p:spPr/>
        <p:txBody>
          <a:bodyPr/>
          <a:lstStyle/>
          <a:p>
            <a:r>
              <a:rPr lang="en-US" dirty="0"/>
              <a:t>Introduction</a:t>
            </a:r>
            <a:endParaRPr lang="en-IN" dirty="0"/>
          </a:p>
        </p:txBody>
      </p:sp>
      <p:sp>
        <p:nvSpPr>
          <p:cNvPr id="4" name="TextBox 3">
            <a:extLst>
              <a:ext uri="{FF2B5EF4-FFF2-40B4-BE49-F238E27FC236}">
                <a16:creationId xmlns:a16="http://schemas.microsoft.com/office/drawing/2014/main" id="{192FF515-7602-7566-AD44-B2CF5741D322}"/>
              </a:ext>
            </a:extLst>
          </p:cNvPr>
          <p:cNvSpPr txBox="1"/>
          <p:nvPr/>
        </p:nvSpPr>
        <p:spPr>
          <a:xfrm>
            <a:off x="854110" y="2266802"/>
            <a:ext cx="11023042" cy="4195508"/>
          </a:xfrm>
          <a:prstGeom prst="rect">
            <a:avLst/>
          </a:prstGeom>
          <a:noFill/>
        </p:spPr>
        <p:txBody>
          <a:bodyPr wrap="square">
            <a:spAutoFit/>
          </a:bodyPr>
          <a:lstStyle/>
          <a:p>
            <a:endParaRPr lang="en-US" dirty="0"/>
          </a:p>
          <a:p>
            <a:r>
              <a:rPr lang="en-US" dirty="0"/>
              <a:t>🌍 In the dynamic world of energy usage, optimizing consumption is both a necessity and a challenge. But fear not! Our data science project aims to act as a beacon—guiding individuals and policymakers toward smarter, sustainable energy practices.</a:t>
            </a:r>
          </a:p>
          <a:p>
            <a:endParaRPr lang="en-US" dirty="0"/>
          </a:p>
          <a:p>
            <a:r>
              <a:rPr lang="en-US" dirty="0"/>
              <a:t>🔋 </a:t>
            </a:r>
            <a:r>
              <a:rPr lang="en-US" b="1" dirty="0"/>
              <a:t>Energy Efficiency:</a:t>
            </a:r>
            <a:r>
              <a:rPr lang="en-US" dirty="0"/>
              <a:t> Leveraging cutting-edge machine learning to understand and optimize household energy consumption.</a:t>
            </a:r>
          </a:p>
          <a:p>
            <a:endParaRPr lang="en-US" dirty="0"/>
          </a:p>
          <a:p>
            <a:r>
              <a:rPr lang="en-US" dirty="0"/>
              <a:t>📊 </a:t>
            </a:r>
            <a:r>
              <a:rPr lang="en-US" b="1" dirty="0"/>
              <a:t>Data Insights:</a:t>
            </a:r>
            <a:r>
              <a:rPr lang="en-US" dirty="0"/>
              <a:t> Utilizing datasets like the UCI Energy Efficiency Dataset for actionable strategies.</a:t>
            </a:r>
          </a:p>
          <a:p>
            <a:endParaRPr lang="en-US" dirty="0"/>
          </a:p>
          <a:p>
            <a:r>
              <a:rPr lang="en-US" dirty="0"/>
              <a:t>🌱 </a:t>
            </a:r>
            <a:r>
              <a:rPr lang="en-US" b="1" dirty="0"/>
              <a:t>Sustainability Impact:</a:t>
            </a:r>
            <a:r>
              <a:rPr lang="en-US" dirty="0"/>
              <a:t> Connecting micro-level insights with national-level trends for a comprehensive solution.</a:t>
            </a:r>
          </a:p>
          <a:p>
            <a:pPr algn="just">
              <a:lnSpc>
                <a:spcPct val="150000"/>
              </a:lnSpc>
            </a:pPr>
            <a:r>
              <a:rPr lang="en-US" b="0" i="0" dirty="0">
                <a:solidFill>
                  <a:srgbClr val="FFFFFF"/>
                </a:solidFill>
                <a:effectLst/>
                <a:latin typeface="SegoeUIVariable"/>
              </a:rPr>
              <a:t>e of books, finding the perfect read can be both exciting and overwhelming. But fear not! Our dd books they’ll love.</a:t>
            </a:r>
            <a:endParaRPr lang="en-IN" dirty="0"/>
          </a:p>
        </p:txBody>
      </p:sp>
    </p:spTree>
    <p:extLst>
      <p:ext uri="{BB962C8B-B14F-4D97-AF65-F5344CB8AC3E}">
        <p14:creationId xmlns:p14="http://schemas.microsoft.com/office/powerpoint/2010/main" val="2714106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324E-7089-2A4F-2B85-2962109BFA8D}"/>
              </a:ext>
            </a:extLst>
          </p:cNvPr>
          <p:cNvSpPr>
            <a:spLocks noGrp="1"/>
          </p:cNvSpPr>
          <p:nvPr>
            <p:ph type="title"/>
          </p:nvPr>
        </p:nvSpPr>
        <p:spPr/>
        <p:txBody>
          <a:bodyPr/>
          <a:lstStyle/>
          <a:p>
            <a:r>
              <a:rPr lang="en-IN" dirty="0"/>
              <a:t>Requirement analysis</a:t>
            </a:r>
          </a:p>
        </p:txBody>
      </p:sp>
      <p:sp>
        <p:nvSpPr>
          <p:cNvPr id="4" name="TextBox 3">
            <a:extLst>
              <a:ext uri="{FF2B5EF4-FFF2-40B4-BE49-F238E27FC236}">
                <a16:creationId xmlns:a16="http://schemas.microsoft.com/office/drawing/2014/main" id="{F806B6AC-3000-0276-7B5B-5A641760C9CA}"/>
              </a:ext>
            </a:extLst>
          </p:cNvPr>
          <p:cNvSpPr txBox="1"/>
          <p:nvPr/>
        </p:nvSpPr>
        <p:spPr>
          <a:xfrm>
            <a:off x="582805" y="2403123"/>
            <a:ext cx="10761784" cy="3139321"/>
          </a:xfrm>
          <a:prstGeom prst="rect">
            <a:avLst/>
          </a:prstGeom>
          <a:noFill/>
        </p:spPr>
        <p:txBody>
          <a:bodyPr wrap="square">
            <a:spAutoFit/>
          </a:bodyPr>
          <a:lstStyle/>
          <a:p>
            <a:pPr marL="285750" indent="-285750">
              <a:buFont typeface="Arial" panose="020B0604020202020204" pitchFamily="34" charset="0"/>
              <a:buChar char="•"/>
            </a:pPr>
            <a:r>
              <a:rPr lang="en-IN" b="1" dirty="0"/>
              <a:t>Data Source</a:t>
            </a:r>
            <a:r>
              <a:rPr lang="en-IN" dirty="0"/>
              <a:t>: Utilizes a rich dataset from </a:t>
            </a:r>
            <a:r>
              <a:rPr lang="en-US" dirty="0"/>
              <a:t>UCI Energy Efficiency Dataset .</a:t>
            </a:r>
            <a:endParaRPr lang="en-IN" dirty="0"/>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Techniques Used</a:t>
            </a:r>
            <a:r>
              <a:rPr lang="en-IN" dirty="0"/>
              <a:t>: Involves data preprocessing, feature engineering, and machine learning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Methodology</a:t>
            </a:r>
            <a:r>
              <a:rPr lang="en-IN" dirty="0"/>
              <a:t>: exploratory data analysis (EDA). </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b="1" dirty="0"/>
              <a:t>Tools Utilized</a:t>
            </a:r>
            <a:r>
              <a:rPr lang="en-IN" dirty="0"/>
              <a:t>: Leverages Python, </a:t>
            </a:r>
            <a:r>
              <a:rPr lang="en-IN" dirty="0" err="1"/>
              <a:t>Jupyter</a:t>
            </a:r>
            <a:r>
              <a:rPr lang="en-IN" dirty="0"/>
              <a:t> Lab, and scikit-learn for data manipulation, model building, and evaluation, </a:t>
            </a:r>
            <a:r>
              <a:rPr lang="en-IN" dirty="0" err="1"/>
              <a:t>streamlit</a:t>
            </a:r>
            <a:r>
              <a:rPr lang="en-IN" dirty="0"/>
              <a:t> for user interface.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Goal : </a:t>
            </a:r>
            <a:r>
              <a:rPr lang="en-US" dirty="0"/>
              <a:t>Enhance energy efficiency and sustainability by providing accurate predictions and actionable insights for energy consumption at household and national levels.</a:t>
            </a:r>
            <a:r>
              <a:rPr lang="en-IN" dirty="0"/>
              <a:t>.</a:t>
            </a:r>
          </a:p>
        </p:txBody>
      </p:sp>
    </p:spTree>
    <p:extLst>
      <p:ext uri="{BB962C8B-B14F-4D97-AF65-F5344CB8AC3E}">
        <p14:creationId xmlns:p14="http://schemas.microsoft.com/office/powerpoint/2010/main" val="2545285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324E-7089-2A4F-2B85-2962109BFA8D}"/>
              </a:ext>
            </a:extLst>
          </p:cNvPr>
          <p:cNvSpPr>
            <a:spLocks noGrp="1"/>
          </p:cNvSpPr>
          <p:nvPr>
            <p:ph type="title"/>
          </p:nvPr>
        </p:nvSpPr>
        <p:spPr/>
        <p:txBody>
          <a:bodyPr/>
          <a:lstStyle/>
          <a:p>
            <a:r>
              <a:rPr lang="en-US" dirty="0"/>
              <a:t>Block diagram</a:t>
            </a:r>
            <a:endParaRPr lang="en-IN" dirty="0"/>
          </a:p>
        </p:txBody>
      </p:sp>
      <p:pic>
        <p:nvPicPr>
          <p:cNvPr id="47" name="Picture 46">
            <a:extLst>
              <a:ext uri="{FF2B5EF4-FFF2-40B4-BE49-F238E27FC236}">
                <a16:creationId xmlns:a16="http://schemas.microsoft.com/office/drawing/2014/main" id="{A8853533-BE4E-5F54-22CF-F7FAA87842B2}"/>
              </a:ext>
            </a:extLst>
          </p:cNvPr>
          <p:cNvPicPr>
            <a:picLocks noChangeAspect="1"/>
          </p:cNvPicPr>
          <p:nvPr/>
        </p:nvPicPr>
        <p:blipFill>
          <a:blip r:embed="rId3"/>
          <a:stretch>
            <a:fillRect/>
          </a:stretch>
        </p:blipFill>
        <p:spPr>
          <a:xfrm>
            <a:off x="1035698" y="2328548"/>
            <a:ext cx="9957198" cy="3894970"/>
          </a:xfrm>
          <a:prstGeom prst="rect">
            <a:avLst/>
          </a:prstGeom>
        </p:spPr>
      </p:pic>
      <p:sp>
        <p:nvSpPr>
          <p:cNvPr id="3" name="TextBox 2">
            <a:extLst>
              <a:ext uri="{FF2B5EF4-FFF2-40B4-BE49-F238E27FC236}">
                <a16:creationId xmlns:a16="http://schemas.microsoft.com/office/drawing/2014/main" id="{DA1D778A-4906-22CE-1707-009E1B1D7690}"/>
              </a:ext>
            </a:extLst>
          </p:cNvPr>
          <p:cNvSpPr txBox="1"/>
          <p:nvPr/>
        </p:nvSpPr>
        <p:spPr>
          <a:xfrm>
            <a:off x="4903473" y="6316824"/>
            <a:ext cx="4641744" cy="369332"/>
          </a:xfrm>
          <a:prstGeom prst="rect">
            <a:avLst/>
          </a:prstGeom>
          <a:noFill/>
        </p:spPr>
        <p:txBody>
          <a:bodyPr wrap="square" rtlCol="0">
            <a:spAutoFit/>
          </a:bodyPr>
          <a:lstStyle/>
          <a:p>
            <a:r>
              <a:rPr lang="en-IN" sz="1800" b="1" dirty="0"/>
              <a:t>Fig.1 Block diagram</a:t>
            </a:r>
          </a:p>
        </p:txBody>
      </p:sp>
    </p:spTree>
    <p:extLst>
      <p:ext uri="{BB962C8B-B14F-4D97-AF65-F5344CB8AC3E}">
        <p14:creationId xmlns:p14="http://schemas.microsoft.com/office/powerpoint/2010/main" val="1693138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324E-7089-2A4F-2B85-2962109BFA8D}"/>
              </a:ext>
            </a:extLst>
          </p:cNvPr>
          <p:cNvSpPr>
            <a:spLocks noGrp="1"/>
          </p:cNvSpPr>
          <p:nvPr>
            <p:ph type="title"/>
          </p:nvPr>
        </p:nvSpPr>
        <p:spPr/>
        <p:txBody>
          <a:bodyPr/>
          <a:lstStyle/>
          <a:p>
            <a:r>
              <a:rPr lang="en-US" dirty="0"/>
              <a:t>Data Collection</a:t>
            </a:r>
            <a:endParaRPr lang="en-IN" dirty="0"/>
          </a:p>
        </p:txBody>
      </p:sp>
      <p:sp>
        <p:nvSpPr>
          <p:cNvPr id="6" name="TextBox 5">
            <a:extLst>
              <a:ext uri="{FF2B5EF4-FFF2-40B4-BE49-F238E27FC236}">
                <a16:creationId xmlns:a16="http://schemas.microsoft.com/office/drawing/2014/main" id="{84AD5117-9375-7229-1CAF-06E7371F14ED}"/>
              </a:ext>
            </a:extLst>
          </p:cNvPr>
          <p:cNvSpPr txBox="1"/>
          <p:nvPr/>
        </p:nvSpPr>
        <p:spPr>
          <a:xfrm>
            <a:off x="569406" y="2423484"/>
            <a:ext cx="11053187" cy="3693319"/>
          </a:xfrm>
          <a:prstGeom prst="rect">
            <a:avLst/>
          </a:prstGeom>
          <a:noFill/>
        </p:spPr>
        <p:txBody>
          <a:bodyPr wrap="square">
            <a:spAutoFit/>
          </a:bodyPr>
          <a:lstStyle/>
          <a:p>
            <a:r>
              <a:rPr lang="en-US" dirty="0"/>
              <a:t>The </a:t>
            </a:r>
            <a:r>
              <a:rPr lang="en-US" b="1" dirty="0"/>
              <a:t>UCSD Goodreads Dataset </a:t>
            </a:r>
            <a:r>
              <a:rPr lang="en-US" dirty="0"/>
              <a:t>is a comprehensive collection of data from the Goodreads book review website, curated by researchers at the University of California, San Diego (UCSD).</a:t>
            </a:r>
          </a:p>
          <a:p>
            <a:endParaRPr lang="en-US" dirty="0"/>
          </a:p>
          <a:p>
            <a:endParaRPr lang="en-US" dirty="0"/>
          </a:p>
          <a:p>
            <a:r>
              <a:rPr lang="en-US" dirty="0"/>
              <a:t>Here are some key features of the dataset:</a:t>
            </a:r>
          </a:p>
          <a:p>
            <a:endParaRPr lang="en-US" dirty="0"/>
          </a:p>
          <a:p>
            <a:r>
              <a:rPr lang="en-US" dirty="0"/>
              <a:t>User Interactions: Includes data on user ratings, reviews, and book shelves .</a:t>
            </a:r>
          </a:p>
          <a:p>
            <a:r>
              <a:rPr lang="en-US" dirty="0"/>
              <a:t>		“</a:t>
            </a:r>
            <a:r>
              <a:rPr lang="en-US" sz="1600" b="1" dirty="0" err="1"/>
              <a:t>goodreads_interactions</a:t>
            </a:r>
            <a:r>
              <a:rPr lang="en-US" sz="1600" b="1" dirty="0"/>
              <a:t>. csv</a:t>
            </a:r>
            <a:r>
              <a:rPr lang="en-US" dirty="0"/>
              <a:t>”</a:t>
            </a:r>
          </a:p>
          <a:p>
            <a:endParaRPr lang="en-US" dirty="0"/>
          </a:p>
          <a:p>
            <a:r>
              <a:rPr lang="en-US" dirty="0"/>
              <a:t>Book Attributes: Contains information about books, such as titles, authors, genres, and series.</a:t>
            </a:r>
          </a:p>
          <a:p>
            <a:r>
              <a:rPr lang="en-US" dirty="0"/>
              <a:t>		“</a:t>
            </a:r>
            <a:r>
              <a:rPr lang="en-US" sz="1800" b="1" dirty="0" err="1"/>
              <a:t>goodreads</a:t>
            </a:r>
            <a:r>
              <a:rPr lang="en-US" b="1" dirty="0" err="1"/>
              <a:t>_books</a:t>
            </a:r>
            <a:r>
              <a:rPr lang="en-US" sz="1800" b="1" dirty="0"/>
              <a:t>. </a:t>
            </a:r>
            <a:r>
              <a:rPr lang="en-US" b="1" dirty="0" err="1"/>
              <a:t>json</a:t>
            </a:r>
            <a:r>
              <a:rPr lang="en-US" dirty="0"/>
              <a:t>”		</a:t>
            </a:r>
          </a:p>
          <a:p>
            <a:endParaRPr lang="en-US" dirty="0"/>
          </a:p>
          <a:p>
            <a:r>
              <a:rPr lang="en-US" dirty="0"/>
              <a:t>Rich Metadata: Provides additional details like book descriptions and publication dates.</a:t>
            </a:r>
            <a:endParaRPr lang="en-IN" dirty="0"/>
          </a:p>
        </p:txBody>
      </p:sp>
    </p:spTree>
    <p:extLst>
      <p:ext uri="{BB962C8B-B14F-4D97-AF65-F5344CB8AC3E}">
        <p14:creationId xmlns:p14="http://schemas.microsoft.com/office/powerpoint/2010/main" val="4158785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8A1AC-9466-1C21-37F1-9446FFCF893E}"/>
              </a:ext>
            </a:extLst>
          </p:cNvPr>
          <p:cNvSpPr>
            <a:spLocks noGrp="1"/>
          </p:cNvSpPr>
          <p:nvPr>
            <p:ph type="title"/>
          </p:nvPr>
        </p:nvSpPr>
        <p:spPr/>
        <p:txBody>
          <a:bodyPr/>
          <a:lstStyle/>
          <a:p>
            <a:r>
              <a:rPr lang="en-US" dirty="0"/>
              <a:t>Data Description</a:t>
            </a:r>
            <a:endParaRPr lang="en-IN" dirty="0"/>
          </a:p>
        </p:txBody>
      </p:sp>
      <p:sp>
        <p:nvSpPr>
          <p:cNvPr id="3" name="TextBox 2">
            <a:extLst>
              <a:ext uri="{FF2B5EF4-FFF2-40B4-BE49-F238E27FC236}">
                <a16:creationId xmlns:a16="http://schemas.microsoft.com/office/drawing/2014/main" id="{FE739826-49BD-0CF3-7DDE-8B0C734C624B}"/>
              </a:ext>
            </a:extLst>
          </p:cNvPr>
          <p:cNvSpPr txBox="1"/>
          <p:nvPr/>
        </p:nvSpPr>
        <p:spPr>
          <a:xfrm>
            <a:off x="558800" y="2423698"/>
            <a:ext cx="6448490" cy="2585323"/>
          </a:xfrm>
          <a:prstGeom prst="rect">
            <a:avLst/>
          </a:prstGeom>
          <a:noFill/>
        </p:spPr>
        <p:txBody>
          <a:bodyPr wrap="square" rtlCol="0">
            <a:spAutoFit/>
          </a:bodyPr>
          <a:lstStyle/>
          <a:p>
            <a:r>
              <a:rPr lang="en-IN" b="1" dirty="0"/>
              <a:t> 1. </a:t>
            </a:r>
            <a:r>
              <a:rPr lang="en-US" sz="1600" b="1" dirty="0" err="1"/>
              <a:t>Machine_Learning_to_predict_Energy_Consumption.ipynb</a:t>
            </a:r>
            <a:endParaRPr lang="en-IN" sz="1600" b="1" dirty="0"/>
          </a:p>
          <a:p>
            <a:endParaRPr lang="en-IN" b="1" dirty="0"/>
          </a:p>
          <a:p>
            <a:r>
              <a:rPr lang="en-US" sz="1600" dirty="0"/>
              <a:t>Description: The primary </a:t>
            </a:r>
            <a:r>
              <a:rPr lang="en-US" sz="1600" dirty="0" err="1"/>
              <a:t>Jupyter</a:t>
            </a:r>
            <a:r>
              <a:rPr lang="en-US" sz="1600" dirty="0"/>
              <a:t> Notebook that contains the code and detailed explanations for predicting energy consumption using machine learning models, specifically using LSTM networks.</a:t>
            </a:r>
          </a:p>
          <a:p>
            <a:endParaRPr lang="en-US" sz="1600" dirty="0"/>
          </a:p>
          <a:p>
            <a:r>
              <a:rPr lang="en-US" sz="1600" dirty="0"/>
              <a:t>Contents: Data loading, preprocessing, model building, evaluation, and visualization.</a:t>
            </a:r>
          </a:p>
          <a:p>
            <a:endParaRPr lang="en-IN" sz="1400" b="1" dirty="0"/>
          </a:p>
        </p:txBody>
      </p:sp>
    </p:spTree>
    <p:extLst>
      <p:ext uri="{BB962C8B-B14F-4D97-AF65-F5344CB8AC3E}">
        <p14:creationId xmlns:p14="http://schemas.microsoft.com/office/powerpoint/2010/main" val="2643828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3F247-CA9A-4082-2612-094640313DB8}"/>
              </a:ext>
            </a:extLst>
          </p:cNvPr>
          <p:cNvSpPr>
            <a:spLocks noGrp="1"/>
          </p:cNvSpPr>
          <p:nvPr>
            <p:ph type="title"/>
          </p:nvPr>
        </p:nvSpPr>
        <p:spPr/>
        <p:txBody>
          <a:bodyPr/>
          <a:lstStyle/>
          <a:p>
            <a:r>
              <a:rPr lang="en-US" dirty="0"/>
              <a:t>Data Description</a:t>
            </a:r>
            <a:endParaRPr lang="en-IN" dirty="0"/>
          </a:p>
        </p:txBody>
      </p:sp>
      <p:sp>
        <p:nvSpPr>
          <p:cNvPr id="3" name="TextBox 2">
            <a:extLst>
              <a:ext uri="{FF2B5EF4-FFF2-40B4-BE49-F238E27FC236}">
                <a16:creationId xmlns:a16="http://schemas.microsoft.com/office/drawing/2014/main" id="{F332A04E-206B-3D01-E7BC-99EBF91576A5}"/>
              </a:ext>
            </a:extLst>
          </p:cNvPr>
          <p:cNvSpPr txBox="1"/>
          <p:nvPr/>
        </p:nvSpPr>
        <p:spPr>
          <a:xfrm>
            <a:off x="508000" y="2328336"/>
            <a:ext cx="7967574" cy="1384995"/>
          </a:xfrm>
          <a:prstGeom prst="rect">
            <a:avLst/>
          </a:prstGeom>
          <a:noFill/>
        </p:spPr>
        <p:txBody>
          <a:bodyPr wrap="square" rtlCol="0">
            <a:spAutoFit/>
          </a:bodyPr>
          <a:lstStyle/>
          <a:p>
            <a:pPr marL="342900" indent="-342900">
              <a:buAutoNum type="arabicPeriod" startAt="2"/>
            </a:pPr>
            <a:r>
              <a:rPr lang="en-IN" sz="1400" b="1" dirty="0"/>
              <a:t>Data</a:t>
            </a:r>
          </a:p>
          <a:p>
            <a:endParaRPr lang="en-IN" sz="1400" b="1" dirty="0"/>
          </a:p>
          <a:p>
            <a:r>
              <a:rPr lang="en-US" sz="1400" dirty="0"/>
              <a:t>Description: A directory that holds the datasets required for training and testing the machine learning models.</a:t>
            </a:r>
          </a:p>
          <a:p>
            <a:r>
              <a:rPr lang="en-US" sz="1400" dirty="0"/>
              <a:t>Expected Contents: CSV or other data files containing historical energy consumption data and possibly other relevant features like weather, time, and geographic location.</a:t>
            </a:r>
            <a:endParaRPr lang="en-IN" sz="1400" dirty="0"/>
          </a:p>
        </p:txBody>
      </p:sp>
      <p:sp>
        <p:nvSpPr>
          <p:cNvPr id="6" name="TextBox 5">
            <a:extLst>
              <a:ext uri="{FF2B5EF4-FFF2-40B4-BE49-F238E27FC236}">
                <a16:creationId xmlns:a16="http://schemas.microsoft.com/office/drawing/2014/main" id="{7B9BFA3C-F4C2-28D3-ACB9-25A1312B44C0}"/>
              </a:ext>
            </a:extLst>
          </p:cNvPr>
          <p:cNvSpPr txBox="1"/>
          <p:nvPr/>
        </p:nvSpPr>
        <p:spPr>
          <a:xfrm>
            <a:off x="508000" y="3814159"/>
            <a:ext cx="6980820" cy="1384995"/>
          </a:xfrm>
          <a:prstGeom prst="rect">
            <a:avLst/>
          </a:prstGeom>
          <a:noFill/>
        </p:spPr>
        <p:txBody>
          <a:bodyPr wrap="square" rtlCol="0">
            <a:spAutoFit/>
          </a:bodyPr>
          <a:lstStyle/>
          <a:p>
            <a:pPr marL="342900" indent="-342900">
              <a:buAutoNum type="arabicPeriod" startAt="3"/>
            </a:pPr>
            <a:r>
              <a:rPr lang="en-IN" sz="1400" b="1" dirty="0"/>
              <a:t>Models</a:t>
            </a:r>
          </a:p>
          <a:p>
            <a:endParaRPr lang="en-IN" sz="1400" b="1" dirty="0"/>
          </a:p>
          <a:p>
            <a:r>
              <a:rPr lang="en-US" sz="1400" dirty="0"/>
              <a:t>Description: A folder for storing the trained machine learning models, likely saved in formats such as .h5 for </a:t>
            </a:r>
            <a:r>
              <a:rPr lang="en-US" sz="1400" dirty="0" err="1"/>
              <a:t>Keras</a:t>
            </a:r>
            <a:r>
              <a:rPr lang="en-US" sz="1400" dirty="0"/>
              <a:t> or .</a:t>
            </a:r>
            <a:r>
              <a:rPr lang="en-US" sz="1400" dirty="0" err="1"/>
              <a:t>pkl</a:t>
            </a:r>
            <a:r>
              <a:rPr lang="en-US" sz="1400" dirty="0"/>
              <a:t> for Scikit-learn models.</a:t>
            </a:r>
          </a:p>
          <a:p>
            <a:r>
              <a:rPr lang="en-US" sz="1400" dirty="0"/>
              <a:t>Expected Contents: Trained models that can be used for inference or further analysis.</a:t>
            </a:r>
            <a:endParaRPr lang="en-IN" sz="1400" dirty="0"/>
          </a:p>
        </p:txBody>
      </p:sp>
    </p:spTree>
    <p:extLst>
      <p:ext uri="{BB962C8B-B14F-4D97-AF65-F5344CB8AC3E}">
        <p14:creationId xmlns:p14="http://schemas.microsoft.com/office/powerpoint/2010/main" val="3375183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324E-7089-2A4F-2B85-2962109BFA8D}"/>
              </a:ext>
            </a:extLst>
          </p:cNvPr>
          <p:cNvSpPr>
            <a:spLocks noGrp="1"/>
          </p:cNvSpPr>
          <p:nvPr>
            <p:ph type="title"/>
          </p:nvPr>
        </p:nvSpPr>
        <p:spPr/>
        <p:txBody>
          <a:bodyPr/>
          <a:lstStyle/>
          <a:p>
            <a:r>
              <a:rPr lang="en-IN" dirty="0"/>
              <a:t>Data pre-processing</a:t>
            </a:r>
          </a:p>
        </p:txBody>
      </p:sp>
      <p:sp>
        <p:nvSpPr>
          <p:cNvPr id="5" name="TextBox 4">
            <a:extLst>
              <a:ext uri="{FF2B5EF4-FFF2-40B4-BE49-F238E27FC236}">
                <a16:creationId xmlns:a16="http://schemas.microsoft.com/office/drawing/2014/main" id="{18138FB1-3995-E816-4DF2-B558CA0642DC}"/>
              </a:ext>
            </a:extLst>
          </p:cNvPr>
          <p:cNvSpPr txBox="1"/>
          <p:nvPr/>
        </p:nvSpPr>
        <p:spPr>
          <a:xfrm>
            <a:off x="442128" y="2510640"/>
            <a:ext cx="10902461" cy="4194674"/>
          </a:xfrm>
          <a:prstGeom prst="rect">
            <a:avLst/>
          </a:prstGeom>
          <a:noFill/>
        </p:spPr>
        <p:txBody>
          <a:bodyPr wrap="square">
            <a:spAutoFit/>
          </a:bodyPr>
          <a:lstStyle/>
          <a:p>
            <a:pPr algn="just">
              <a:lnSpc>
                <a:spcPct val="150000"/>
              </a:lnSpc>
            </a:pPr>
            <a:r>
              <a:rPr lang="en-IN" b="1" dirty="0"/>
              <a:t>Normalization</a:t>
            </a:r>
            <a:r>
              <a:rPr lang="en-IN" dirty="0"/>
              <a:t>: </a:t>
            </a:r>
            <a:r>
              <a:rPr lang="en-US" dirty="0"/>
              <a:t>Scale numerical features like energy readings (e.g., </a:t>
            </a:r>
            <a:r>
              <a:rPr lang="en-US" dirty="0" err="1"/>
              <a:t>Global_active_power</a:t>
            </a:r>
            <a:r>
              <a:rPr lang="en-US" dirty="0"/>
              <a:t>, Voltage) to a consistent range and aggregate data (e.g., hourly/daily) for efficient processing.</a:t>
            </a:r>
          </a:p>
          <a:p>
            <a:pPr algn="just">
              <a:lnSpc>
                <a:spcPct val="150000"/>
              </a:lnSpc>
            </a:pPr>
            <a:endParaRPr lang="en-IN" dirty="0"/>
          </a:p>
          <a:p>
            <a:pPr algn="just">
              <a:lnSpc>
                <a:spcPct val="150000"/>
              </a:lnSpc>
            </a:pPr>
            <a:r>
              <a:rPr lang="en-IN" b="1" dirty="0"/>
              <a:t>Feature Extraction</a:t>
            </a:r>
            <a:r>
              <a:rPr lang="en-IN" dirty="0"/>
              <a:t>: </a:t>
            </a:r>
            <a:r>
              <a:rPr lang="en-US" dirty="0"/>
              <a:t>Extract meaningful insights such as peak usage hours, appliance contributions (from sub-metering), and environmental impacts (correlation with temperature/humidity).</a:t>
            </a:r>
            <a:endParaRPr lang="en-IN" dirty="0"/>
          </a:p>
          <a:p>
            <a:pPr algn="just">
              <a:lnSpc>
                <a:spcPct val="150000"/>
              </a:lnSpc>
            </a:pPr>
            <a:endParaRPr lang="en-IN" dirty="0"/>
          </a:p>
          <a:p>
            <a:pPr algn="just">
              <a:lnSpc>
                <a:spcPct val="150000"/>
              </a:lnSpc>
            </a:pPr>
            <a:r>
              <a:rPr lang="en-IN" b="1" dirty="0"/>
              <a:t>Encoding</a:t>
            </a:r>
            <a:r>
              <a:rPr lang="en-IN" dirty="0"/>
              <a:t>: </a:t>
            </a:r>
            <a:r>
              <a:rPr lang="en-US" dirty="0"/>
              <a:t>Convert categorical data (e.g., appliance types, time-of-day) into numerical forms using techniques like one-hot or label encoding, and derive time-based features (hour, day, month) for temporal analysis.</a:t>
            </a:r>
            <a:endParaRPr lang="en-IN" dirty="0"/>
          </a:p>
        </p:txBody>
      </p:sp>
    </p:spTree>
    <p:extLst>
      <p:ext uri="{BB962C8B-B14F-4D97-AF65-F5344CB8AC3E}">
        <p14:creationId xmlns:p14="http://schemas.microsoft.com/office/powerpoint/2010/main" val="510032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0D488-6A7B-4B81-79C0-9F4DE736D8AC}"/>
              </a:ext>
            </a:extLst>
          </p:cNvPr>
          <p:cNvSpPr>
            <a:spLocks noGrp="1"/>
          </p:cNvSpPr>
          <p:nvPr>
            <p:ph type="title"/>
          </p:nvPr>
        </p:nvSpPr>
        <p:spPr/>
        <p:txBody>
          <a:bodyPr/>
          <a:lstStyle/>
          <a:p>
            <a:r>
              <a:rPr lang="en-IN" dirty="0"/>
              <a:t>Exploratory Data Analysis</a:t>
            </a:r>
          </a:p>
        </p:txBody>
      </p:sp>
      <p:sp>
        <p:nvSpPr>
          <p:cNvPr id="3" name="Content Placeholder 2">
            <a:extLst>
              <a:ext uri="{FF2B5EF4-FFF2-40B4-BE49-F238E27FC236}">
                <a16:creationId xmlns:a16="http://schemas.microsoft.com/office/drawing/2014/main" id="{FBBE5298-B4A1-98AB-8102-7A3CD3362F15}"/>
              </a:ext>
            </a:extLst>
          </p:cNvPr>
          <p:cNvSpPr txBox="1">
            <a:spLocks/>
          </p:cNvSpPr>
          <p:nvPr/>
        </p:nvSpPr>
        <p:spPr>
          <a:xfrm>
            <a:off x="996695" y="2660903"/>
            <a:ext cx="7543801" cy="4197097"/>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buFont typeface="Arial" panose="020B0604020202020204" pitchFamily="34" charset="0"/>
              <a:buChar char="•"/>
            </a:pPr>
            <a:r>
              <a:rPr lang="en-US" b="1" dirty="0"/>
              <a:t>Purpose</a:t>
            </a:r>
            <a:r>
              <a:rPr lang="en-US" dirty="0"/>
              <a:t>: Understand consumption trends and seasonal variations.</a:t>
            </a:r>
          </a:p>
          <a:p>
            <a:pPr>
              <a:buFont typeface="Arial" panose="020B0604020202020204" pitchFamily="34" charset="0"/>
              <a:buChar char="•"/>
            </a:pPr>
            <a:endParaRPr lang="en-US" dirty="0"/>
          </a:p>
          <a:p>
            <a:pPr>
              <a:buFont typeface="Arial" panose="020B0604020202020204" pitchFamily="34" charset="0"/>
              <a:buChar char="•"/>
            </a:pPr>
            <a:r>
              <a:rPr lang="en-US" b="1" dirty="0"/>
              <a:t>Visual Insights</a:t>
            </a:r>
            <a:r>
              <a:rPr lang="en-US" dirty="0"/>
              <a:t>:</a:t>
            </a:r>
          </a:p>
          <a:p>
            <a:pPr marL="742950" lvl="1" indent="-285750">
              <a:buFont typeface="Arial" panose="020B0604020202020204" pitchFamily="34" charset="0"/>
              <a:buChar char="•"/>
            </a:pPr>
            <a:r>
              <a:rPr lang="en-US" dirty="0"/>
              <a:t>Yearly consumption trends showing variations over time.</a:t>
            </a:r>
          </a:p>
          <a:p>
            <a:pPr marL="742950" lvl="1" indent="-285750">
              <a:buFont typeface="Arial" panose="020B0604020202020204" pitchFamily="34" charset="0"/>
              <a:buChar char="•"/>
            </a:pPr>
            <a:r>
              <a:rPr lang="en-US" dirty="0"/>
              <a:t>Monthly and hourly analysis reveals peak consumption times.</a:t>
            </a:r>
          </a:p>
          <a:p>
            <a:pPr marL="742950" lvl="1" indent="-285750">
              <a:buFont typeface="Arial" panose="020B0604020202020204" pitchFamily="34" charset="0"/>
              <a:buChar char="•"/>
            </a:pPr>
            <a:r>
              <a:rPr lang="en-US" dirty="0"/>
              <a:t>Boxplots highlight outliers and typical usage patterns.</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Key Takeaways</a:t>
            </a:r>
            <a:r>
              <a:rPr lang="en-US" dirty="0"/>
              <a:t>:</a:t>
            </a:r>
          </a:p>
          <a:p>
            <a:pPr marL="742950" lvl="1" indent="-285750">
              <a:buFont typeface="Arial" panose="020B0604020202020204" pitchFamily="34" charset="0"/>
              <a:buChar char="•"/>
            </a:pPr>
            <a:r>
              <a:rPr lang="en-US" dirty="0"/>
              <a:t>Clear evidence of seasonality in energy usage.</a:t>
            </a:r>
          </a:p>
          <a:p>
            <a:pPr marL="742950" lvl="1" indent="-285750">
              <a:buFont typeface="Arial" panose="020B0604020202020204" pitchFamily="34" charset="0"/>
              <a:buChar char="•"/>
            </a:pPr>
            <a:r>
              <a:rPr lang="en-US" dirty="0"/>
              <a:t>Hourly consumption peaks during specific times of the day.</a:t>
            </a:r>
          </a:p>
          <a:p>
            <a:endParaRPr lang="en-US" dirty="0"/>
          </a:p>
        </p:txBody>
      </p:sp>
    </p:spTree>
    <p:extLst>
      <p:ext uri="{BB962C8B-B14F-4D97-AF65-F5344CB8AC3E}">
        <p14:creationId xmlns:p14="http://schemas.microsoft.com/office/powerpoint/2010/main" val="1332491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55E0A-DF1B-A3EA-5010-AEB3CD9F7DDB}"/>
              </a:ext>
            </a:extLst>
          </p:cNvPr>
          <p:cNvSpPr>
            <a:spLocks noGrp="1"/>
          </p:cNvSpPr>
          <p:nvPr>
            <p:ph type="title"/>
          </p:nvPr>
        </p:nvSpPr>
        <p:spPr/>
        <p:txBody>
          <a:bodyPr/>
          <a:lstStyle/>
          <a:p>
            <a:r>
              <a:rPr lang="en-IN" dirty="0"/>
              <a:t>Model Architecture and Training</a:t>
            </a:r>
          </a:p>
        </p:txBody>
      </p:sp>
      <p:sp>
        <p:nvSpPr>
          <p:cNvPr id="11" name="TextBox 10">
            <a:extLst>
              <a:ext uri="{FF2B5EF4-FFF2-40B4-BE49-F238E27FC236}">
                <a16:creationId xmlns:a16="http://schemas.microsoft.com/office/drawing/2014/main" id="{6EC1B764-B60F-DF2C-217B-D8B8F2E446E8}"/>
              </a:ext>
            </a:extLst>
          </p:cNvPr>
          <p:cNvSpPr txBox="1"/>
          <p:nvPr/>
        </p:nvSpPr>
        <p:spPr>
          <a:xfrm>
            <a:off x="960699" y="2650603"/>
            <a:ext cx="10081549" cy="3416320"/>
          </a:xfrm>
          <a:prstGeom prst="rect">
            <a:avLst/>
          </a:prstGeom>
          <a:noFill/>
        </p:spPr>
        <p:txBody>
          <a:bodyPr wrap="square" rtlCol="0">
            <a:spAutoFit/>
          </a:bodyPr>
          <a:lstStyle/>
          <a:p>
            <a:pPr>
              <a:buFont typeface="Arial" panose="020B0604020202020204" pitchFamily="34" charset="0"/>
              <a:buChar char="•"/>
            </a:pPr>
            <a:r>
              <a:rPr lang="en-IN" b="1" dirty="0"/>
              <a:t>Model Type</a:t>
            </a:r>
            <a:r>
              <a:rPr lang="en-IN" dirty="0"/>
              <a:t>: LSTM Neural Network for time-series data.</a:t>
            </a:r>
          </a:p>
          <a:p>
            <a:pPr>
              <a:buFont typeface="Arial" panose="020B0604020202020204" pitchFamily="34" charset="0"/>
              <a:buChar char="•"/>
            </a:pPr>
            <a:endParaRPr lang="en-IN" dirty="0"/>
          </a:p>
          <a:p>
            <a:pPr>
              <a:buFont typeface="Arial" panose="020B0604020202020204" pitchFamily="34" charset="0"/>
              <a:buChar char="•"/>
            </a:pPr>
            <a:r>
              <a:rPr lang="en-IN" b="1" dirty="0"/>
              <a:t>Architecture Details</a:t>
            </a:r>
            <a:r>
              <a:rPr lang="en-IN" dirty="0"/>
              <a:t>:</a:t>
            </a:r>
          </a:p>
          <a:p>
            <a:pPr marL="742950" lvl="1" indent="-285750">
              <a:buFont typeface="Arial" panose="020B0604020202020204" pitchFamily="34" charset="0"/>
              <a:buChar char="•"/>
            </a:pPr>
            <a:r>
              <a:rPr lang="en-IN" dirty="0"/>
              <a:t>Input layer for historical time-series data.</a:t>
            </a:r>
          </a:p>
          <a:p>
            <a:pPr marL="742950" lvl="1" indent="-285750">
              <a:buFont typeface="Arial" panose="020B0604020202020204" pitchFamily="34" charset="0"/>
              <a:buChar char="•"/>
            </a:pPr>
            <a:r>
              <a:rPr lang="en-IN" dirty="0"/>
              <a:t>LSTM layers to capture temporal dependencies.</a:t>
            </a:r>
          </a:p>
          <a:p>
            <a:pPr marL="742950" lvl="1" indent="-285750">
              <a:buFont typeface="Arial" panose="020B0604020202020204" pitchFamily="34" charset="0"/>
              <a:buChar char="•"/>
            </a:pPr>
            <a:r>
              <a:rPr lang="en-IN" dirty="0"/>
              <a:t>Dropout layers to prevent overfitting.</a:t>
            </a:r>
          </a:p>
          <a:p>
            <a:pPr marL="742950" lvl="1" indent="-285750">
              <a:buFont typeface="Arial" panose="020B0604020202020204" pitchFamily="34" charset="0"/>
              <a:buChar char="•"/>
            </a:pPr>
            <a:r>
              <a:rPr lang="en-IN" dirty="0"/>
              <a:t>Dense layers for generating final predictions.</a:t>
            </a:r>
          </a:p>
          <a:p>
            <a:pPr marL="742950" lvl="1" indent="-285750">
              <a:buFont typeface="Arial" panose="020B0604020202020204" pitchFamily="34" charset="0"/>
              <a:buChar char="•"/>
            </a:pPr>
            <a:endParaRPr lang="en-IN" dirty="0"/>
          </a:p>
          <a:p>
            <a:pPr>
              <a:buFont typeface="Arial" panose="020B0604020202020204" pitchFamily="34" charset="0"/>
              <a:buChar char="•"/>
            </a:pPr>
            <a:r>
              <a:rPr lang="en-IN" b="1" dirty="0"/>
              <a:t>Training Process</a:t>
            </a:r>
            <a:r>
              <a:rPr lang="en-IN" dirty="0"/>
              <a:t>:</a:t>
            </a:r>
          </a:p>
          <a:p>
            <a:pPr marL="742950" lvl="1" indent="-285750">
              <a:buFont typeface="Arial" panose="020B0604020202020204" pitchFamily="34" charset="0"/>
              <a:buChar char="•"/>
            </a:pPr>
            <a:r>
              <a:rPr lang="en-IN" dirty="0"/>
              <a:t>Normalized data for efficient model training.</a:t>
            </a:r>
          </a:p>
          <a:p>
            <a:pPr marL="742950" lvl="1" indent="-285750">
              <a:buFont typeface="Arial" panose="020B0604020202020204" pitchFamily="34" charset="0"/>
              <a:buChar char="•"/>
            </a:pPr>
            <a:r>
              <a:rPr lang="en-IN" dirty="0"/>
              <a:t>Split data into training (70%), validation (15%), and test (15%) sets.</a:t>
            </a:r>
          </a:p>
          <a:p>
            <a:pPr marL="742950" lvl="1" indent="-285750">
              <a:buFont typeface="Arial" panose="020B0604020202020204" pitchFamily="34" charset="0"/>
              <a:buChar char="•"/>
            </a:pPr>
            <a:r>
              <a:rPr lang="en-IN" dirty="0"/>
              <a:t>Optimized model using Mean Squared Error (MSE) loss function.</a:t>
            </a:r>
          </a:p>
        </p:txBody>
      </p:sp>
    </p:spTree>
    <p:extLst>
      <p:ext uri="{BB962C8B-B14F-4D97-AF65-F5344CB8AC3E}">
        <p14:creationId xmlns:p14="http://schemas.microsoft.com/office/powerpoint/2010/main" val="200995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9408" y="964525"/>
            <a:ext cx="8825659" cy="706964"/>
          </a:xfrm>
        </p:spPr>
        <p:txBody>
          <a:bodyPr/>
          <a:lstStyle/>
          <a:p>
            <a:r>
              <a:rPr lang="en-IN" dirty="0"/>
              <a:t>Model Evaluation</a:t>
            </a:r>
            <a:endParaRPr b="1" dirty="0">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9C386DF5-0BC8-96BC-B617-41AD94E6CE4A}"/>
              </a:ext>
            </a:extLst>
          </p:cNvPr>
          <p:cNvSpPr>
            <a:spLocks noGrp="1" noChangeArrowheads="1"/>
          </p:cNvSpPr>
          <p:nvPr>
            <p:ph idx="1"/>
          </p:nvPr>
        </p:nvSpPr>
        <p:spPr bwMode="auto">
          <a:xfrm>
            <a:off x="484188" y="2943197"/>
            <a:ext cx="766421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Root Mean Squared Error (RMSE): Measures prediction accuracy.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Training and Validation Loss: Indicates model convergence over epochs.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Results Visualization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Comparison of actual vs. predicted values shows strong alignment.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Loss graph demonstrates model stability after training.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0C332-B4ED-556E-7198-7643457086E9}"/>
              </a:ext>
            </a:extLst>
          </p:cNvPr>
          <p:cNvSpPr>
            <a:spLocks noGrp="1"/>
          </p:cNvSpPr>
          <p:nvPr>
            <p:ph type="title"/>
          </p:nvPr>
        </p:nvSpPr>
        <p:spPr/>
        <p:txBody>
          <a:bodyPr/>
          <a:lstStyle/>
          <a:p>
            <a:r>
              <a:rPr lang="en-IN" dirty="0"/>
              <a:t>Predictions and Forecasting</a:t>
            </a:r>
          </a:p>
        </p:txBody>
      </p:sp>
      <p:sp>
        <p:nvSpPr>
          <p:cNvPr id="3" name="Content Placeholder 2">
            <a:extLst>
              <a:ext uri="{FF2B5EF4-FFF2-40B4-BE49-F238E27FC236}">
                <a16:creationId xmlns:a16="http://schemas.microsoft.com/office/drawing/2014/main" id="{FB3DBAE6-9C96-7E11-44C8-35C97E6B950D}"/>
              </a:ext>
            </a:extLst>
          </p:cNvPr>
          <p:cNvSpPr>
            <a:spLocks noGrp="1"/>
          </p:cNvSpPr>
          <p:nvPr>
            <p:ph idx="1"/>
          </p:nvPr>
        </p:nvSpPr>
        <p:spPr>
          <a:xfrm>
            <a:off x="1154954" y="2258008"/>
            <a:ext cx="10554964" cy="3761792"/>
          </a:xfrm>
        </p:spPr>
        <p:txBody>
          <a:bodyPr>
            <a:normAutofit/>
          </a:bodyPr>
          <a:lstStyle/>
          <a:p>
            <a:pPr>
              <a:buFont typeface="Arial" panose="020B0604020202020204" pitchFamily="34" charset="0"/>
              <a:buChar char="•"/>
            </a:pPr>
            <a:r>
              <a:rPr lang="en-US" b="1" dirty="0"/>
              <a:t>Next 30-Day Forecast</a:t>
            </a:r>
            <a:r>
              <a:rPr lang="en-US" dirty="0"/>
              <a:t>:</a:t>
            </a:r>
          </a:p>
          <a:p>
            <a:pPr marL="742950" lvl="1" indent="-285750">
              <a:buFont typeface="Arial" panose="020B0604020202020204" pitchFamily="34" charset="0"/>
              <a:buChar char="•"/>
            </a:pPr>
            <a:r>
              <a:rPr lang="en-US" dirty="0"/>
              <a:t>Used trained LSTM model to predict future energy consumption.</a:t>
            </a:r>
          </a:p>
          <a:p>
            <a:pPr marL="742950" lvl="1" indent="-285750">
              <a:buFont typeface="Arial" panose="020B0604020202020204" pitchFamily="34" charset="0"/>
              <a:buChar char="•"/>
            </a:pPr>
            <a:r>
              <a:rPr lang="en-US" dirty="0"/>
              <a:t>Provided visual overlay of predicted vs. actual energy usage for test data.</a:t>
            </a:r>
          </a:p>
          <a:p>
            <a:pPr marL="742950" lvl="1" indent="-285750">
              <a:buFont typeface="Arial" panose="020B0604020202020204" pitchFamily="34" charset="0"/>
              <a:buChar char="•"/>
            </a:pPr>
            <a:endParaRPr lang="en-US" dirty="0"/>
          </a:p>
          <a:p>
            <a:pPr>
              <a:buFont typeface="Arial" panose="020B0604020202020204" pitchFamily="34" charset="0"/>
              <a:buChar char="•"/>
            </a:pPr>
            <a:r>
              <a:rPr lang="en-US" b="1" dirty="0"/>
              <a:t>Visualization Details</a:t>
            </a:r>
            <a:r>
              <a:rPr lang="en-US" dirty="0"/>
              <a:t>:</a:t>
            </a:r>
          </a:p>
          <a:p>
            <a:pPr marL="742950" lvl="1" indent="-285750">
              <a:buFont typeface="Arial" panose="020B0604020202020204" pitchFamily="34" charset="0"/>
              <a:buChar char="•"/>
            </a:pPr>
            <a:r>
              <a:rPr lang="en-US" dirty="0"/>
              <a:t>Line graph of forecasted daily consumption for the next month.</a:t>
            </a:r>
          </a:p>
          <a:p>
            <a:pPr marL="742950" lvl="1" indent="-285750">
              <a:buFont typeface="Arial" panose="020B0604020202020204" pitchFamily="34" charset="0"/>
              <a:buChar char="•"/>
            </a:pPr>
            <a:r>
              <a:rPr lang="en-US" dirty="0"/>
              <a:t>Clear trend patterns matching historical data trends.</a:t>
            </a:r>
          </a:p>
          <a:p>
            <a:pPr marL="0" indent="0">
              <a:lnSpc>
                <a:spcPct val="150000"/>
              </a:lnSpc>
              <a:buNone/>
              <a:defRPr sz="2000"/>
            </a:pPr>
            <a:endParaRPr lang="en-US" sz="1600" dirty="0"/>
          </a:p>
        </p:txBody>
      </p:sp>
    </p:spTree>
    <p:extLst>
      <p:ext uri="{BB962C8B-B14F-4D97-AF65-F5344CB8AC3E}">
        <p14:creationId xmlns:p14="http://schemas.microsoft.com/office/powerpoint/2010/main" val="31068360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TM02900722[[fn=Ion Boardroom]]</Template>
  <TotalTime>838</TotalTime>
  <Words>991</Words>
  <Application>Microsoft Office PowerPoint</Application>
  <PresentationFormat>Widescreen</PresentationFormat>
  <Paragraphs>123</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Century Gothic</vt:lpstr>
      <vt:lpstr>SegoeUIVariable</vt:lpstr>
      <vt:lpstr>Times New Roman</vt:lpstr>
      <vt:lpstr>Wingdings 3</vt:lpstr>
      <vt:lpstr>Ion Boardroom</vt:lpstr>
      <vt:lpstr>Energy Consumption Analysis and Efficiency Improvement</vt:lpstr>
      <vt:lpstr>Content</vt:lpstr>
      <vt:lpstr>Introduction </vt:lpstr>
      <vt:lpstr>Introduction</vt:lpstr>
      <vt:lpstr>Requirement analysis</vt:lpstr>
      <vt:lpstr>Block diagram</vt:lpstr>
      <vt:lpstr>Data Collection</vt:lpstr>
      <vt:lpstr>Data Description</vt:lpstr>
      <vt:lpstr>Data Description</vt:lpstr>
      <vt:lpstr>Data pre-processing</vt:lpstr>
      <vt:lpstr>Exploratory Data Analysis</vt:lpstr>
      <vt:lpstr>Model Architecture and Training</vt:lpstr>
      <vt:lpstr>Model Evaluation</vt:lpstr>
      <vt:lpstr>Predictions and Forecasting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ManojKumar ⠀</dc:creator>
  <cp:lastModifiedBy>Rajendra singh Tomra</cp:lastModifiedBy>
  <cp:revision>109</cp:revision>
  <dcterms:created xsi:type="dcterms:W3CDTF">2024-09-11T03:48:17Z</dcterms:created>
  <dcterms:modified xsi:type="dcterms:W3CDTF">2025-02-17T06:14:40Z</dcterms:modified>
</cp:coreProperties>
</file>